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145D35-6E60-804C-84B0-4BFA0567B4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62343A-D9F7-D43B-6B61-32724AAF2B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83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F3B817-973E-A46F-1A2A-0C883BC250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B889D0-F4F0-E598-13DE-3CF548A507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11126B-1B93-8140-8011-84F6C9108FAD}"/>
              </a:ext>
            </a:extLst>
          </p:cNvPr>
          <p:cNvGrpSpPr/>
          <p:nvPr/>
        </p:nvGrpSpPr>
        <p:grpSpPr>
          <a:xfrm>
            <a:off x="438520" y="1358675"/>
            <a:ext cx="11336495" cy="4977100"/>
            <a:chOff x="438520" y="1358675"/>
            <a:chExt cx="11336495" cy="4977100"/>
          </a:xfrm>
        </p:grpSpPr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A476AB1F-147F-8213-6B7E-D664993FEB35}"/>
                </a:ext>
              </a:extLst>
            </p:cNvPr>
            <p:cNvSpPr/>
            <p:nvPr/>
          </p:nvSpPr>
          <p:spPr>
            <a:xfrm rot="16200000">
              <a:off x="145821" y="3553668"/>
              <a:ext cx="4680000" cy="884213"/>
            </a:xfrm>
            <a:prstGeom prst="triangle">
              <a:avLst>
                <a:gd name="adj" fmla="val 35012"/>
              </a:avLst>
            </a:prstGeom>
            <a:gradFill flip="none" rotWithShape="1">
              <a:gsLst>
                <a:gs pos="2000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5E98F3F-CAA9-4CCF-E20F-144D1076F36F}"/>
                </a:ext>
              </a:extLst>
            </p:cNvPr>
            <p:cNvGrpSpPr/>
            <p:nvPr/>
          </p:nvGrpSpPr>
          <p:grpSpPr>
            <a:xfrm>
              <a:off x="754665" y="4985472"/>
              <a:ext cx="1880727" cy="302398"/>
              <a:chOff x="631132" y="2438400"/>
              <a:chExt cx="2462871" cy="396000"/>
            </a:xfrm>
            <a:scene3d>
              <a:camera prst="isometricRightUp"/>
              <a:lightRig rig="threePt" dir="t"/>
            </a:scene3d>
          </p:grpSpPr>
          <p:sp>
            <p:nvSpPr>
              <p:cNvPr id="49" name="Arrow: Pentagon 48">
                <a:extLst>
                  <a:ext uri="{FF2B5EF4-FFF2-40B4-BE49-F238E27FC236}">
                    <a16:creationId xmlns:a16="http://schemas.microsoft.com/office/drawing/2014/main" id="{96D20357-DD5D-CB78-FC04-139BCF44AED8}"/>
                  </a:ext>
                </a:extLst>
              </p:cNvPr>
              <p:cNvSpPr/>
              <p:nvPr/>
            </p:nvSpPr>
            <p:spPr>
              <a:xfrm>
                <a:off x="631132" y="2438400"/>
                <a:ext cx="828000" cy="396000"/>
              </a:xfrm>
              <a:prstGeom prst="homePlate">
                <a:avLst>
                  <a:gd name="adj" fmla="val 10628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Arrow: Chevron 49">
                <a:extLst>
                  <a:ext uri="{FF2B5EF4-FFF2-40B4-BE49-F238E27FC236}">
                    <a16:creationId xmlns:a16="http://schemas.microsoft.com/office/drawing/2014/main" id="{FAF3B32A-B407-2BE0-757D-833B8A693B9D}"/>
                  </a:ext>
                </a:extLst>
              </p:cNvPr>
              <p:cNvSpPr/>
              <p:nvPr/>
            </p:nvSpPr>
            <p:spPr>
              <a:xfrm>
                <a:off x="1448567" y="2438400"/>
                <a:ext cx="828000" cy="396000"/>
              </a:xfrm>
              <a:prstGeom prst="chevron">
                <a:avLst>
                  <a:gd name="adj" fmla="val 10628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Arrow: Chevron 50">
                <a:extLst>
                  <a:ext uri="{FF2B5EF4-FFF2-40B4-BE49-F238E27FC236}">
                    <a16:creationId xmlns:a16="http://schemas.microsoft.com/office/drawing/2014/main" id="{8A2D9E2D-A713-C96D-E591-350D51D0E13A}"/>
                  </a:ext>
                </a:extLst>
              </p:cNvPr>
              <p:cNvSpPr/>
              <p:nvPr/>
            </p:nvSpPr>
            <p:spPr>
              <a:xfrm>
                <a:off x="2266003" y="2438400"/>
                <a:ext cx="828000" cy="396000"/>
              </a:xfrm>
              <a:prstGeom prst="chevron">
                <a:avLst>
                  <a:gd name="adj" fmla="val 10628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B40B39C-4F9D-4849-3311-292B9CB6F40D}"/>
                </a:ext>
              </a:extLst>
            </p:cNvPr>
            <p:cNvGrpSpPr/>
            <p:nvPr/>
          </p:nvGrpSpPr>
          <p:grpSpPr>
            <a:xfrm>
              <a:off x="649284" y="4679449"/>
              <a:ext cx="1880727" cy="302398"/>
              <a:chOff x="631132" y="2438400"/>
              <a:chExt cx="2462871" cy="396000"/>
            </a:xfrm>
            <a:scene3d>
              <a:camera prst="isometricRightUp"/>
              <a:lightRig rig="threePt" dir="t"/>
            </a:scene3d>
          </p:grpSpPr>
          <p:sp>
            <p:nvSpPr>
              <p:cNvPr id="46" name="Arrow: Pentagon 45">
                <a:extLst>
                  <a:ext uri="{FF2B5EF4-FFF2-40B4-BE49-F238E27FC236}">
                    <a16:creationId xmlns:a16="http://schemas.microsoft.com/office/drawing/2014/main" id="{048DFA8C-09E3-44C7-5FF3-9488EF6BA325}"/>
                  </a:ext>
                </a:extLst>
              </p:cNvPr>
              <p:cNvSpPr/>
              <p:nvPr/>
            </p:nvSpPr>
            <p:spPr>
              <a:xfrm>
                <a:off x="631132" y="2438400"/>
                <a:ext cx="828000" cy="396000"/>
              </a:xfrm>
              <a:prstGeom prst="homePlate">
                <a:avLst>
                  <a:gd name="adj" fmla="val 10628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Arrow: Chevron 46">
                <a:extLst>
                  <a:ext uri="{FF2B5EF4-FFF2-40B4-BE49-F238E27FC236}">
                    <a16:creationId xmlns:a16="http://schemas.microsoft.com/office/drawing/2014/main" id="{6FA6D9B6-0429-0285-6A20-4B3C7BF7304C}"/>
                  </a:ext>
                </a:extLst>
              </p:cNvPr>
              <p:cNvSpPr/>
              <p:nvPr/>
            </p:nvSpPr>
            <p:spPr>
              <a:xfrm>
                <a:off x="1448567" y="2438400"/>
                <a:ext cx="828000" cy="396000"/>
              </a:xfrm>
              <a:prstGeom prst="chevron">
                <a:avLst>
                  <a:gd name="adj" fmla="val 10628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Arrow: Chevron 47">
                <a:extLst>
                  <a:ext uri="{FF2B5EF4-FFF2-40B4-BE49-F238E27FC236}">
                    <a16:creationId xmlns:a16="http://schemas.microsoft.com/office/drawing/2014/main" id="{96A1A5C9-CDA1-3D4B-5B5C-4637259CF94B}"/>
                  </a:ext>
                </a:extLst>
              </p:cNvPr>
              <p:cNvSpPr/>
              <p:nvPr/>
            </p:nvSpPr>
            <p:spPr>
              <a:xfrm>
                <a:off x="2266003" y="2438400"/>
                <a:ext cx="828000" cy="396000"/>
              </a:xfrm>
              <a:prstGeom prst="chevron">
                <a:avLst>
                  <a:gd name="adj" fmla="val 10628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30E6E41-D46B-EFC1-D21D-D07BC2EFDD9C}"/>
                </a:ext>
              </a:extLst>
            </p:cNvPr>
            <p:cNvGrpSpPr/>
            <p:nvPr/>
          </p:nvGrpSpPr>
          <p:grpSpPr>
            <a:xfrm>
              <a:off x="543902" y="4373426"/>
              <a:ext cx="1880726" cy="302398"/>
              <a:chOff x="5741193" y="3429000"/>
              <a:chExt cx="1880726" cy="302398"/>
            </a:xfrm>
            <a:solidFill>
              <a:schemeClr val="accent4"/>
            </a:solidFill>
            <a:scene3d>
              <a:camera prst="isometricRightUp"/>
              <a:lightRig rig="threePt" dir="t"/>
            </a:scene3d>
          </p:grpSpPr>
          <p:sp>
            <p:nvSpPr>
              <p:cNvPr id="41" name="Arrow: Pentagon 40">
                <a:extLst>
                  <a:ext uri="{FF2B5EF4-FFF2-40B4-BE49-F238E27FC236}">
                    <a16:creationId xmlns:a16="http://schemas.microsoft.com/office/drawing/2014/main" id="{CC94099A-F09E-8DE4-D851-DDA6A03439C8}"/>
                  </a:ext>
                </a:extLst>
              </p:cNvPr>
              <p:cNvSpPr/>
              <p:nvPr/>
            </p:nvSpPr>
            <p:spPr>
              <a:xfrm>
                <a:off x="5741193" y="3429000"/>
                <a:ext cx="378000" cy="302398"/>
              </a:xfrm>
              <a:prstGeom prst="homePlate">
                <a:avLst>
                  <a:gd name="adj" fmla="val 10628"/>
                </a:avLst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Arrow: Chevron 41">
                <a:extLst>
                  <a:ext uri="{FF2B5EF4-FFF2-40B4-BE49-F238E27FC236}">
                    <a16:creationId xmlns:a16="http://schemas.microsoft.com/office/drawing/2014/main" id="{55BBC94E-018B-99E6-516A-7497A4A30124}"/>
                  </a:ext>
                </a:extLst>
              </p:cNvPr>
              <p:cNvSpPr/>
              <p:nvPr/>
            </p:nvSpPr>
            <p:spPr>
              <a:xfrm>
                <a:off x="6492555" y="3429000"/>
                <a:ext cx="378000" cy="302398"/>
              </a:xfrm>
              <a:prstGeom prst="chevron">
                <a:avLst>
                  <a:gd name="adj" fmla="val 10628"/>
                </a:avLst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Arrow: Chevron 42">
                <a:extLst>
                  <a:ext uri="{FF2B5EF4-FFF2-40B4-BE49-F238E27FC236}">
                    <a16:creationId xmlns:a16="http://schemas.microsoft.com/office/drawing/2014/main" id="{CB21A8F9-F7A0-8671-AD32-35E32290CEFC}"/>
                  </a:ext>
                </a:extLst>
              </p:cNvPr>
              <p:cNvSpPr/>
              <p:nvPr/>
            </p:nvSpPr>
            <p:spPr>
              <a:xfrm>
                <a:off x="7243919" y="3429000"/>
                <a:ext cx="378000" cy="302398"/>
              </a:xfrm>
              <a:prstGeom prst="chevron">
                <a:avLst>
                  <a:gd name="adj" fmla="val 10628"/>
                </a:avLst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Arrow: Chevron 43">
                <a:extLst>
                  <a:ext uri="{FF2B5EF4-FFF2-40B4-BE49-F238E27FC236}">
                    <a16:creationId xmlns:a16="http://schemas.microsoft.com/office/drawing/2014/main" id="{36F5E84C-674E-2760-583C-69EF9018B341}"/>
                  </a:ext>
                </a:extLst>
              </p:cNvPr>
              <p:cNvSpPr/>
              <p:nvPr/>
            </p:nvSpPr>
            <p:spPr>
              <a:xfrm>
                <a:off x="6868236" y="3429000"/>
                <a:ext cx="378000" cy="302398"/>
              </a:xfrm>
              <a:prstGeom prst="chevron">
                <a:avLst>
                  <a:gd name="adj" fmla="val 10628"/>
                </a:avLst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Arrow: Chevron 44">
                <a:extLst>
                  <a:ext uri="{FF2B5EF4-FFF2-40B4-BE49-F238E27FC236}">
                    <a16:creationId xmlns:a16="http://schemas.microsoft.com/office/drawing/2014/main" id="{802E8B96-82DD-C6B4-CA1C-4201EC5A6430}"/>
                  </a:ext>
                </a:extLst>
              </p:cNvPr>
              <p:cNvSpPr/>
              <p:nvPr/>
            </p:nvSpPr>
            <p:spPr>
              <a:xfrm>
                <a:off x="6116874" y="3429000"/>
                <a:ext cx="378000" cy="302398"/>
              </a:xfrm>
              <a:prstGeom prst="chevron">
                <a:avLst>
                  <a:gd name="adj" fmla="val 10628"/>
                </a:avLst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A99666F-080D-F75F-1326-40333F89BFB5}"/>
                </a:ext>
              </a:extLst>
            </p:cNvPr>
            <p:cNvGrpSpPr/>
            <p:nvPr/>
          </p:nvGrpSpPr>
          <p:grpSpPr>
            <a:xfrm>
              <a:off x="438520" y="4067403"/>
              <a:ext cx="1880727" cy="302398"/>
              <a:chOff x="5741193" y="2181766"/>
              <a:chExt cx="1880727" cy="302398"/>
            </a:xfrm>
            <a:solidFill>
              <a:schemeClr val="accent3"/>
            </a:solidFill>
            <a:scene3d>
              <a:camera prst="isometricRightUp"/>
              <a:lightRig rig="threePt" dir="t"/>
            </a:scene3d>
          </p:grpSpPr>
          <p:sp>
            <p:nvSpPr>
              <p:cNvPr id="37" name="Arrow: Pentagon 36">
                <a:extLst>
                  <a:ext uri="{FF2B5EF4-FFF2-40B4-BE49-F238E27FC236}">
                    <a16:creationId xmlns:a16="http://schemas.microsoft.com/office/drawing/2014/main" id="{81F537C3-BCE1-694D-5FCF-4BC17B6A1CB6}"/>
                  </a:ext>
                </a:extLst>
              </p:cNvPr>
              <p:cNvSpPr/>
              <p:nvPr/>
            </p:nvSpPr>
            <p:spPr>
              <a:xfrm>
                <a:off x="5741193" y="2181766"/>
                <a:ext cx="475200" cy="302398"/>
              </a:xfrm>
              <a:prstGeom prst="homePlate">
                <a:avLst>
                  <a:gd name="adj" fmla="val 10628"/>
                </a:avLst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Arrow: Chevron 37">
                <a:extLst>
                  <a:ext uri="{FF2B5EF4-FFF2-40B4-BE49-F238E27FC236}">
                    <a16:creationId xmlns:a16="http://schemas.microsoft.com/office/drawing/2014/main" id="{2A908DC7-2896-2D6B-B4DF-E9FAC54DF0E0}"/>
                  </a:ext>
                </a:extLst>
              </p:cNvPr>
              <p:cNvSpPr/>
              <p:nvPr/>
            </p:nvSpPr>
            <p:spPr>
              <a:xfrm>
                <a:off x="6209702" y="2181766"/>
                <a:ext cx="475200" cy="302398"/>
              </a:xfrm>
              <a:prstGeom prst="chevron">
                <a:avLst>
                  <a:gd name="adj" fmla="val 10628"/>
                </a:avLst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Arrow: Chevron 38">
                <a:extLst>
                  <a:ext uri="{FF2B5EF4-FFF2-40B4-BE49-F238E27FC236}">
                    <a16:creationId xmlns:a16="http://schemas.microsoft.com/office/drawing/2014/main" id="{1CC0C7B4-9EDF-9831-B39B-9EF132D76043}"/>
                  </a:ext>
                </a:extLst>
              </p:cNvPr>
              <p:cNvSpPr/>
              <p:nvPr/>
            </p:nvSpPr>
            <p:spPr>
              <a:xfrm>
                <a:off x="7146720" y="2181766"/>
                <a:ext cx="475200" cy="302398"/>
              </a:xfrm>
              <a:prstGeom prst="chevron">
                <a:avLst>
                  <a:gd name="adj" fmla="val 10628"/>
                </a:avLst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Arrow: Chevron 39">
                <a:extLst>
                  <a:ext uri="{FF2B5EF4-FFF2-40B4-BE49-F238E27FC236}">
                    <a16:creationId xmlns:a16="http://schemas.microsoft.com/office/drawing/2014/main" id="{1F6DA0AC-1690-20D4-97AF-4FF598717003}"/>
                  </a:ext>
                </a:extLst>
              </p:cNvPr>
              <p:cNvSpPr/>
              <p:nvPr/>
            </p:nvSpPr>
            <p:spPr>
              <a:xfrm>
                <a:off x="6678211" y="2181766"/>
                <a:ext cx="475200" cy="302398"/>
              </a:xfrm>
              <a:prstGeom prst="chevron">
                <a:avLst>
                  <a:gd name="adj" fmla="val 10628"/>
                </a:avLst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0" name="Arrow: Up 9">
              <a:extLst>
                <a:ext uri="{FF2B5EF4-FFF2-40B4-BE49-F238E27FC236}">
                  <a16:creationId xmlns:a16="http://schemas.microsoft.com/office/drawing/2014/main" id="{E9D2DD7E-DDB5-C8D0-FDE4-EEFDE6C7C874}"/>
                </a:ext>
              </a:extLst>
            </p:cNvPr>
            <p:cNvSpPr>
              <a:spLocks/>
            </p:cNvSpPr>
            <p:nvPr/>
          </p:nvSpPr>
          <p:spPr>
            <a:xfrm rot="10800000">
              <a:off x="1030199" y="2428483"/>
              <a:ext cx="1013514" cy="1323172"/>
            </a:xfrm>
            <a:prstGeom prst="upArrow">
              <a:avLst>
                <a:gd name="adj1" fmla="val 50000"/>
                <a:gd name="adj2" fmla="val 39465"/>
              </a:avLst>
            </a:prstGeom>
            <a:gradFill>
              <a:gsLst>
                <a:gs pos="20000">
                  <a:schemeClr val="bg1"/>
                </a:gs>
                <a:gs pos="80000">
                  <a:schemeClr val="accent1">
                    <a:lumMod val="45000"/>
                    <a:lumOff val="5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184B9F7-BEEC-60E9-740B-9BAC3A2233C0}"/>
                </a:ext>
              </a:extLst>
            </p:cNvPr>
            <p:cNvSpPr txBox="1"/>
            <p:nvPr/>
          </p:nvSpPr>
          <p:spPr>
            <a:xfrm>
              <a:off x="836943" y="1843890"/>
              <a:ext cx="1400027" cy="369332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/>
            <a:p>
              <a:pPr algn="ctr"/>
              <a:r>
                <a:rPr lang="en-US" sz="1200" b="1"/>
                <a:t>Business Process Backlog</a:t>
              </a:r>
              <a:endParaRPr lang="en-US" sz="12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5EEF986-6001-2C9F-4138-7ED69DA95AD0}"/>
                </a:ext>
              </a:extLst>
            </p:cNvPr>
            <p:cNvSpPr/>
            <p:nvPr/>
          </p:nvSpPr>
          <p:spPr>
            <a:xfrm>
              <a:off x="3008744" y="1655775"/>
              <a:ext cx="1800000" cy="864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>
                  <a:solidFill>
                    <a:schemeClr val="tx1"/>
                  </a:solidFill>
                  <a:latin typeface="Graphik Light" panose="020B0403030202060203" pitchFamily="34" charset="0"/>
                </a:rPr>
                <a:t>01</a:t>
              </a:r>
            </a:p>
            <a:p>
              <a:r>
                <a:rPr lang="en-US" sz="1200">
                  <a:solidFill>
                    <a:schemeClr val="tx1"/>
                  </a:solidFill>
                  <a:latin typeface="Graphik Semibold" panose="020B0703030202060203" pitchFamily="34" charset="0"/>
                </a:rPr>
                <a:t>Process Clarity</a:t>
              </a:r>
              <a:endParaRPr lang="en-US" sz="1200" dirty="0">
                <a:solidFill>
                  <a:schemeClr val="tx1"/>
                </a:solidFill>
                <a:latin typeface="Graphik Semibold" panose="020B070303020206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072A378-1680-86F5-FCF0-CB13A390731F}"/>
                </a:ext>
              </a:extLst>
            </p:cNvPr>
            <p:cNvSpPr/>
            <p:nvPr/>
          </p:nvSpPr>
          <p:spPr>
            <a:xfrm>
              <a:off x="3008744" y="2609775"/>
              <a:ext cx="1800000" cy="864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>
                  <a:solidFill>
                    <a:schemeClr val="tx1"/>
                  </a:solidFill>
                  <a:latin typeface="Graphik Light" panose="020B0403030202060203" pitchFamily="34" charset="0"/>
                </a:rPr>
                <a:t>02</a:t>
              </a:r>
            </a:p>
            <a:p>
              <a:r>
                <a:rPr lang="en-US" sz="1200" b="1">
                  <a:solidFill>
                    <a:schemeClr val="tx1"/>
                  </a:solidFill>
                  <a:latin typeface="Graphik Semibold" panose="020B0703030202060203" pitchFamily="34" charset="0"/>
                </a:rPr>
                <a:t>Business Value</a:t>
              </a:r>
              <a:endParaRPr lang="en-US" sz="1200" b="1" dirty="0">
                <a:solidFill>
                  <a:schemeClr val="tx1"/>
                </a:solidFill>
                <a:latin typeface="Graphik Semibold" panose="020B070303020206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1E26A9-9B2F-977F-A2D1-33537CF6EEF1}"/>
                </a:ext>
              </a:extLst>
            </p:cNvPr>
            <p:cNvSpPr/>
            <p:nvPr/>
          </p:nvSpPr>
          <p:spPr>
            <a:xfrm>
              <a:off x="3008744" y="3563775"/>
              <a:ext cx="1800000" cy="864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>
                  <a:solidFill>
                    <a:schemeClr val="tx1"/>
                  </a:solidFill>
                  <a:latin typeface="Graphik Light" panose="020B0403030202060203" pitchFamily="34" charset="0"/>
                </a:rPr>
                <a:t>03</a:t>
              </a:r>
            </a:p>
            <a:p>
              <a:r>
                <a:rPr lang="en-US" sz="1200" b="1">
                  <a:solidFill>
                    <a:schemeClr val="tx1"/>
                  </a:solidFill>
                  <a:latin typeface="Graphik Semibold" panose="020B0703030202060203" pitchFamily="34" charset="0"/>
                </a:rPr>
                <a:t>People Profile</a:t>
              </a:r>
              <a:endParaRPr lang="en-US" sz="1200" b="1" dirty="0">
                <a:solidFill>
                  <a:schemeClr val="tx1"/>
                </a:solidFill>
                <a:latin typeface="Graphik Semibold" panose="020B0703030202060203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9945034-51A9-A8F6-30C6-02D26FF33BA1}"/>
                </a:ext>
              </a:extLst>
            </p:cNvPr>
            <p:cNvSpPr/>
            <p:nvPr/>
          </p:nvSpPr>
          <p:spPr>
            <a:xfrm>
              <a:off x="3008744" y="4517775"/>
              <a:ext cx="1800000" cy="864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>
                  <a:solidFill>
                    <a:schemeClr val="tx1"/>
                  </a:solidFill>
                  <a:latin typeface="Graphik Light" panose="020B0403030202060203" pitchFamily="34" charset="0"/>
                </a:rPr>
                <a:t>04</a:t>
              </a:r>
            </a:p>
            <a:p>
              <a:r>
                <a:rPr lang="en-US" sz="1200" b="1">
                  <a:solidFill>
                    <a:schemeClr val="tx1"/>
                  </a:solidFill>
                  <a:latin typeface="Graphik Semibold" panose="020B0703030202060203" pitchFamily="34" charset="0"/>
                </a:rPr>
                <a:t>Data &amp; Tech Stack</a:t>
              </a:r>
              <a:endParaRPr lang="en-US" sz="1200" b="1" dirty="0">
                <a:solidFill>
                  <a:schemeClr val="tx1"/>
                </a:solidFill>
                <a:latin typeface="Graphik Semibold" panose="020B070303020206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3F52EDC-21EE-A854-9E7B-EC5E252394EB}"/>
                </a:ext>
              </a:extLst>
            </p:cNvPr>
            <p:cNvSpPr/>
            <p:nvPr/>
          </p:nvSpPr>
          <p:spPr>
            <a:xfrm>
              <a:off x="3008744" y="5471775"/>
              <a:ext cx="1800000" cy="864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>
                  <a:solidFill>
                    <a:schemeClr val="tx1"/>
                  </a:solidFill>
                  <a:latin typeface="Graphik Light" panose="020B0403030202060203" pitchFamily="34" charset="0"/>
                </a:rPr>
                <a:t>05</a:t>
              </a:r>
            </a:p>
            <a:p>
              <a:r>
                <a:rPr lang="en-US" sz="1200" b="1">
                  <a:solidFill>
                    <a:schemeClr val="tx1"/>
                  </a:solidFill>
                  <a:latin typeface="Graphik Semibold" panose="020B0703030202060203" pitchFamily="34" charset="0"/>
                </a:rPr>
                <a:t>Risk &amp; Compliance</a:t>
              </a:r>
              <a:endParaRPr lang="en-US" sz="1200" b="1" dirty="0">
                <a:solidFill>
                  <a:schemeClr val="tx1"/>
                </a:solidFill>
                <a:latin typeface="Graphik Semibold" panose="020B070303020206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BC59A2A-1015-E6A6-D661-9408816F8C52}"/>
                </a:ext>
              </a:extLst>
            </p:cNvPr>
            <p:cNvSpPr txBox="1"/>
            <p:nvPr/>
          </p:nvSpPr>
          <p:spPr>
            <a:xfrm>
              <a:off x="3008744" y="1358675"/>
              <a:ext cx="1800000" cy="184666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sz="1200" b="1" dirty="0"/>
                <a:t>Dimensions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44B7C1A-A4C7-BA1F-8BCF-8E2BA766ACA0}"/>
                </a:ext>
              </a:extLst>
            </p:cNvPr>
            <p:cNvSpPr/>
            <p:nvPr/>
          </p:nvSpPr>
          <p:spPr>
            <a:xfrm>
              <a:off x="4911955" y="1655775"/>
              <a:ext cx="4356000" cy="86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44000" indent="-14400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Steps, inputs, outputs &amp; exceptions documented</a:t>
              </a:r>
            </a:p>
            <a:p>
              <a:pPr marL="144000" indent="-14400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Agent "job description" writable in one sentence</a:t>
              </a:r>
            </a:p>
            <a:p>
              <a:pPr marL="144000" indent="-14400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Clear start/end, observable success, safe &amp; reversible failure</a:t>
              </a:r>
            </a:p>
            <a:p>
              <a:pPr marL="144000" indent="-14400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Human override &amp; escalation rules defined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BE98B8E-9E01-DAE1-1D87-E5D81EBD6DBC}"/>
                </a:ext>
              </a:extLst>
            </p:cNvPr>
            <p:cNvSpPr/>
            <p:nvPr/>
          </p:nvSpPr>
          <p:spPr>
            <a:xfrm>
              <a:off x="4911955" y="2609775"/>
              <a:ext cx="4356000" cy="86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44000" indent="-14400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ROI quantifiable: FTEs, cost/unit, error rate, revenue</a:t>
              </a:r>
            </a:p>
            <a:p>
              <a:pPr marL="144000" indent="-14400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Baseline metrics exist — no need to instrument first</a:t>
              </a:r>
            </a:p>
            <a:p>
              <a:pPr marL="144000" indent="-14400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Success verifiable by someone outside the team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7875F08-0526-C42E-EBAF-5B23F73A103F}"/>
                </a:ext>
              </a:extLst>
            </p:cNvPr>
            <p:cNvSpPr/>
            <p:nvPr/>
          </p:nvSpPr>
          <p:spPr>
            <a:xfrm>
              <a:off x="4911955" y="3563775"/>
              <a:ext cx="4356000" cy="86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44000" indent="-14400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Curious champions willing to experiment</a:t>
              </a:r>
            </a:p>
            <a:p>
              <a:pPr marL="144000" indent="-14400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Improvement is a habit — team reviews agent performance regularly</a:t>
              </a:r>
            </a:p>
            <a:p>
              <a:pPr marL="144000" indent="-14400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Leadership aligned and sponsoring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A2759FE-0E99-D3CC-2481-E3DF115BF133}"/>
                </a:ext>
              </a:extLst>
            </p:cNvPr>
            <p:cNvSpPr/>
            <p:nvPr/>
          </p:nvSpPr>
          <p:spPr>
            <a:xfrm>
              <a:off x="4911955" y="4517775"/>
              <a:ext cx="4356000" cy="86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44000" indent="-14400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Data structured and accessible</a:t>
              </a:r>
            </a:p>
            <a:p>
              <a:pPr marL="144000" indent="-14400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API or integration paths exist</a:t>
              </a:r>
            </a:p>
            <a:p>
              <a:pPr marL="144000" indent="-14400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Low score = early discovery need, not a blocker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E6FD1F9-A905-7809-A4F8-CFAF972E79A5}"/>
                </a:ext>
              </a:extLst>
            </p:cNvPr>
            <p:cNvSpPr/>
            <p:nvPr/>
          </p:nvSpPr>
          <p:spPr>
            <a:xfrm>
              <a:off x="4911955" y="5471775"/>
              <a:ext cx="4356000" cy="86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44000" indent="-14400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Regulatory exposure assessed</a:t>
              </a:r>
            </a:p>
            <a:p>
              <a:pPr marL="144000" indent="-14400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Errors are reversible; output is recommendation before action</a:t>
              </a:r>
            </a:p>
            <a:p>
              <a:pPr marL="144000" indent="-14400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tx1"/>
                  </a:solidFill>
                </a:rPr>
                <a:t>Audit trail &amp; escalation path defined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5281A08-FFF4-1D60-EFED-FCCCFC39F270}"/>
                </a:ext>
              </a:extLst>
            </p:cNvPr>
            <p:cNvSpPr txBox="1"/>
            <p:nvPr/>
          </p:nvSpPr>
          <p:spPr>
            <a:xfrm>
              <a:off x="4911956" y="1358675"/>
              <a:ext cx="4500000" cy="184666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sz="1200" b="1" dirty="0"/>
                <a:t>Evaluation </a:t>
              </a:r>
              <a:r>
                <a:rPr lang="en-US" sz="1200" b="1" dirty="0" err="1"/>
                <a:t>criterias</a:t>
              </a:r>
              <a:endParaRPr lang="en-US" sz="1200" b="1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0277571-0B12-D860-802C-7FE3850866E3}"/>
                </a:ext>
              </a:extLst>
            </p:cNvPr>
            <p:cNvGrpSpPr/>
            <p:nvPr/>
          </p:nvGrpSpPr>
          <p:grpSpPr>
            <a:xfrm>
              <a:off x="9397903" y="1655774"/>
              <a:ext cx="87165" cy="4680001"/>
              <a:chOff x="9379804" y="1655774"/>
              <a:chExt cx="87165" cy="4680001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AD9895C-11CE-F69E-F467-DFF4B8C3A3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03920" y="1655774"/>
                <a:ext cx="0" cy="2160000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80441A67-A22B-E365-BCE2-2D19C15B1E0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9403920" y="4175775"/>
                <a:ext cx="0" cy="2160000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Arrow: Chevron 35">
                <a:extLst>
                  <a:ext uri="{FF2B5EF4-FFF2-40B4-BE49-F238E27FC236}">
                    <a16:creationId xmlns:a16="http://schemas.microsoft.com/office/drawing/2014/main" id="{287E685E-3FBA-B30A-BAA8-956AF5DE876F}"/>
                  </a:ext>
                </a:extLst>
              </p:cNvPr>
              <p:cNvSpPr/>
              <p:nvPr/>
            </p:nvSpPr>
            <p:spPr>
              <a:xfrm>
                <a:off x="9379804" y="3857192"/>
                <a:ext cx="87165" cy="273563"/>
              </a:xfrm>
              <a:prstGeom prst="chevron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956AEA20-BA8C-C79B-C5A1-BA8607CF860B}"/>
                </a:ext>
              </a:extLst>
            </p:cNvPr>
            <p:cNvSpPr/>
            <p:nvPr/>
          </p:nvSpPr>
          <p:spPr>
            <a:xfrm>
              <a:off x="9615015" y="1655775"/>
              <a:ext cx="2160000" cy="1080000"/>
            </a:xfrm>
            <a:prstGeom prst="roundRect">
              <a:avLst>
                <a:gd name="adj" fmla="val 8465"/>
              </a:avLst>
            </a:prstGeom>
            <a:solidFill>
              <a:schemeClr val="bg1">
                <a:alpha val="2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24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100" dirty="0">
                  <a:solidFill>
                    <a:schemeClr val="tx1"/>
                  </a:solidFill>
                </a:rPr>
                <a:t>Launch a 90-day pilot and tie results to existing </a:t>
              </a:r>
              <a:r>
                <a:rPr lang="en-US" sz="1100">
                  <a:solidFill>
                    <a:schemeClr val="tx1"/>
                  </a:solidFill>
                </a:rPr>
                <a:t>KPIs immediately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05DB889-56AC-B769-D4CB-5B81D69B4C41}"/>
                </a:ext>
              </a:extLst>
            </p:cNvPr>
            <p:cNvSpPr/>
            <p:nvPr/>
          </p:nvSpPr>
          <p:spPr>
            <a:xfrm>
              <a:off x="9615015" y="1655775"/>
              <a:ext cx="2160000" cy="324000"/>
            </a:xfrm>
            <a:prstGeom prst="roundRect">
              <a:avLst/>
            </a:prstGeom>
            <a:solidFill>
              <a:srgbClr val="00B050">
                <a:alpha val="25000"/>
              </a:srgbClr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100">
                  <a:solidFill>
                    <a:schemeClr val="tx1"/>
                  </a:solidFill>
                  <a:latin typeface="Graphik Semibold" panose="020B0703030202060203" pitchFamily="34" charset="0"/>
                </a:rPr>
                <a:t>Start now </a:t>
              </a:r>
              <a:r>
                <a:rPr lang="en-US" sz="1100">
                  <a:solidFill>
                    <a:schemeClr val="tx1"/>
                  </a:solidFill>
                  <a:latin typeface="Graphik Light" panose="020B0403030202060203" pitchFamily="34" charset="0"/>
                </a:rPr>
                <a:t>(&gt;4)</a:t>
              </a:r>
              <a:endParaRPr lang="en-US" sz="1100" dirty="0">
                <a:solidFill>
                  <a:schemeClr val="tx1"/>
                </a:solidFill>
                <a:latin typeface="Graphik Light" panose="020B0403030202060203" pitchFamily="34" charset="0"/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79A0979-1337-A545-C4BE-5A5BA0E793A3}"/>
                </a:ext>
              </a:extLst>
            </p:cNvPr>
            <p:cNvSpPr/>
            <p:nvPr/>
          </p:nvSpPr>
          <p:spPr>
            <a:xfrm>
              <a:off x="9615015" y="2855774"/>
              <a:ext cx="2160000" cy="1080000"/>
            </a:xfrm>
            <a:prstGeom prst="roundRect">
              <a:avLst>
                <a:gd name="adj" fmla="val 8465"/>
              </a:avLst>
            </a:prstGeom>
            <a:solidFill>
              <a:schemeClr val="bg1">
                <a:alpha val="2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24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100" dirty="0">
                  <a:solidFill>
                    <a:schemeClr val="tx1"/>
                  </a:solidFill>
                </a:rPr>
                <a:t>High potential — close 1–2 critical gaps before committing </a:t>
              </a:r>
              <a:r>
                <a:rPr lang="en-US" sz="1100">
                  <a:solidFill>
                    <a:schemeClr val="tx1"/>
                  </a:solidFill>
                </a:rPr>
                <a:t>to build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3EAD4604-2883-CF3E-43CA-DC0BF015F403}"/>
                </a:ext>
              </a:extLst>
            </p:cNvPr>
            <p:cNvSpPr/>
            <p:nvPr/>
          </p:nvSpPr>
          <p:spPr>
            <a:xfrm>
              <a:off x="9615015" y="2855774"/>
              <a:ext cx="2160000" cy="324000"/>
            </a:xfrm>
            <a:prstGeom prst="roundRect">
              <a:avLst/>
            </a:prstGeom>
            <a:solidFill>
              <a:srgbClr val="0070C0">
                <a:alpha val="25000"/>
              </a:srgbClr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100">
                  <a:solidFill>
                    <a:schemeClr val="tx1"/>
                  </a:solidFill>
                  <a:latin typeface="Graphik Semibold" panose="020B0703030202060203" pitchFamily="34" charset="0"/>
                </a:rPr>
                <a:t>Strategic bet </a:t>
              </a:r>
              <a:r>
                <a:rPr lang="en-US" sz="1100">
                  <a:solidFill>
                    <a:schemeClr val="tx1"/>
                  </a:solidFill>
                  <a:latin typeface="Graphik Light" panose="020B0403030202060203" pitchFamily="34" charset="0"/>
                </a:rPr>
                <a:t>(3~3.9)</a:t>
              </a:r>
              <a:endParaRPr lang="en-US" sz="1100" dirty="0">
                <a:solidFill>
                  <a:schemeClr val="tx1"/>
                </a:solidFill>
                <a:latin typeface="Graphik Light" panose="020B0403030202060203" pitchFamily="34" charset="0"/>
              </a:endParaRP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545BD94E-8F14-EB7F-40A7-8899A65D6D88}"/>
                </a:ext>
              </a:extLst>
            </p:cNvPr>
            <p:cNvSpPr/>
            <p:nvPr/>
          </p:nvSpPr>
          <p:spPr>
            <a:xfrm>
              <a:off x="9615015" y="4055774"/>
              <a:ext cx="2160000" cy="1080000"/>
            </a:xfrm>
            <a:prstGeom prst="roundRect">
              <a:avLst>
                <a:gd name="adj" fmla="val 8465"/>
              </a:avLst>
            </a:prstGeom>
            <a:solidFill>
              <a:schemeClr val="bg1">
                <a:alpha val="2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24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100" dirty="0">
                  <a:solidFill>
                    <a:schemeClr val="tx1"/>
                  </a:solidFill>
                </a:rPr>
                <a:t>Overall readiness too low across dimensions — invest in fundamentals before allocating build resource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1ADABC1D-8D7A-5B71-BE45-6A78949D1FDD}"/>
                </a:ext>
              </a:extLst>
            </p:cNvPr>
            <p:cNvSpPr/>
            <p:nvPr/>
          </p:nvSpPr>
          <p:spPr>
            <a:xfrm>
              <a:off x="9615015" y="4055774"/>
              <a:ext cx="2160000" cy="324000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100">
                  <a:solidFill>
                    <a:schemeClr val="tx1"/>
                  </a:solidFill>
                  <a:latin typeface="Graphik Semibold" panose="020B0703030202060203" pitchFamily="34" charset="0"/>
                </a:rPr>
                <a:t>Futher develop </a:t>
              </a:r>
              <a:r>
                <a:rPr lang="en-US" sz="1100">
                  <a:solidFill>
                    <a:schemeClr val="tx1"/>
                  </a:solidFill>
                  <a:latin typeface="Graphik Light" panose="020B0403030202060203" pitchFamily="34" charset="0"/>
                </a:rPr>
                <a:t>(2~2.9)</a:t>
              </a:r>
              <a:endParaRPr lang="en-US" sz="1100" dirty="0">
                <a:solidFill>
                  <a:schemeClr val="tx1"/>
                </a:solidFill>
                <a:latin typeface="Graphik Light" panose="020B0403030202060203" pitchFamily="34" charset="0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6CFB6571-41B6-DF0A-1072-CB472B5731AD}"/>
                </a:ext>
              </a:extLst>
            </p:cNvPr>
            <p:cNvSpPr/>
            <p:nvPr/>
          </p:nvSpPr>
          <p:spPr>
            <a:xfrm>
              <a:off x="9615015" y="5255775"/>
              <a:ext cx="2160000" cy="1080000"/>
            </a:xfrm>
            <a:prstGeom prst="roundRect">
              <a:avLst>
                <a:gd name="adj" fmla="val 8465"/>
              </a:avLst>
            </a:prstGeom>
            <a:solidFill>
              <a:schemeClr val="bg1">
                <a:alpha val="2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24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100" dirty="0">
                  <a:solidFill>
                    <a:schemeClr val="tx1"/>
                  </a:solidFill>
                </a:rPr>
                <a:t>Too many gaps across dimensions — revisit when context changes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6FF5C473-30BE-EA52-DD73-B4925F442C2D}"/>
                </a:ext>
              </a:extLst>
            </p:cNvPr>
            <p:cNvSpPr/>
            <p:nvPr/>
          </p:nvSpPr>
          <p:spPr>
            <a:xfrm>
              <a:off x="9615015" y="5255775"/>
              <a:ext cx="2160000" cy="324000"/>
            </a:xfrm>
            <a:prstGeom prst="roundRect">
              <a:avLst/>
            </a:prstGeom>
            <a:solidFill>
              <a:srgbClr val="C00000">
                <a:alpha val="25000"/>
              </a:srgbClr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100">
                  <a:solidFill>
                    <a:schemeClr val="tx1"/>
                  </a:solidFill>
                  <a:latin typeface="Graphik Semibold" panose="020B0703030202060203" pitchFamily="34" charset="0"/>
                </a:rPr>
                <a:t>Defer </a:t>
              </a:r>
              <a:r>
                <a:rPr lang="en-US" sz="1100">
                  <a:solidFill>
                    <a:schemeClr val="tx1"/>
                  </a:solidFill>
                  <a:latin typeface="Graphik Light" panose="020B0403030202060203" pitchFamily="34" charset="0"/>
                </a:rPr>
                <a:t>(&lt;2)</a:t>
              </a:r>
              <a:endParaRPr lang="en-US" sz="1100" dirty="0">
                <a:solidFill>
                  <a:schemeClr val="tx1"/>
                </a:solidFill>
                <a:latin typeface="Graphik Light" panose="020B0403030202060203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3B535D2-0BD8-E186-55A2-CB3F841AF936}"/>
                </a:ext>
              </a:extLst>
            </p:cNvPr>
            <p:cNvSpPr txBox="1"/>
            <p:nvPr/>
          </p:nvSpPr>
          <p:spPr>
            <a:xfrm>
              <a:off x="9615015" y="1358675"/>
              <a:ext cx="1800000" cy="184666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sz="1200" b="1" dirty="0"/>
                <a:t>Four possible outputs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3540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232</Words>
  <Application>Microsoft Office PowerPoint</Application>
  <PresentationFormat>Widescreen</PresentationFormat>
  <Paragraphs>42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Graphik</vt:lpstr>
      <vt:lpstr>Graphik Light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2026-04-07T13:33:18Z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