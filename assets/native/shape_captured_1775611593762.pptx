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236434-A6BA-357E-96DE-AAEA4FC5D3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C3B153-75C1-264D-8BBF-43029239CF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250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020665-D5A5-3139-5797-C74B0FF7CB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9F93FD-7279-1B02-FFF3-DAE1D314BB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B7DE617-2712-8142-5000-CB4ED0303006}"/>
              </a:ext>
            </a:extLst>
          </p:cNvPr>
          <p:cNvGrpSpPr/>
          <p:nvPr/>
        </p:nvGrpSpPr>
        <p:grpSpPr>
          <a:xfrm>
            <a:off x="381000" y="1469479"/>
            <a:ext cx="11677905" cy="4702078"/>
            <a:chOff x="381000" y="1469479"/>
            <a:chExt cx="11677905" cy="4702078"/>
          </a:xfrm>
        </p:grpSpPr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BDADA869-A458-1F5E-6FE0-C1B5287CC965}"/>
                </a:ext>
              </a:extLst>
            </p:cNvPr>
            <p:cNvSpPr/>
            <p:nvPr/>
          </p:nvSpPr>
          <p:spPr>
            <a:xfrm>
              <a:off x="2457558" y="2416947"/>
              <a:ext cx="9601347" cy="671340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i="1"/>
                <a:t>Sequência de avaliação adotada pelo projeto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068C4E-2025-077F-1C83-FE4D5308CD96}"/>
                </a:ext>
              </a:extLst>
            </p:cNvPr>
            <p:cNvSpPr/>
            <p:nvPr/>
          </p:nvSpPr>
          <p:spPr>
            <a:xfrm>
              <a:off x="5674516" y="2909697"/>
              <a:ext cx="2700000" cy="54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/>
            <a:lstStyle/>
            <a:p>
              <a:pPr>
                <a:spcAft>
                  <a:spcPts val="200"/>
                </a:spcAft>
              </a:pPr>
              <a:r>
                <a:rPr lang="pt-BR" sz="1400" b="1"/>
                <a:t>Build c/ Aceleradores</a:t>
              </a:r>
            </a:p>
            <a:p>
              <a:pPr>
                <a:spcAft>
                  <a:spcPts val="200"/>
                </a:spcAft>
              </a:pPr>
              <a:r>
                <a:rPr lang="pt-BR" sz="900"/>
                <a:t>Realizar </a:t>
              </a:r>
              <a:r>
                <a:rPr lang="pt-BR" sz="900" u="sng"/>
                <a:t>desenvolvimento com aceleradores</a:t>
              </a:r>
              <a:r>
                <a:rPr lang="pt-BR" sz="900"/>
                <a:t>?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FC83D83D-173A-D625-05F8-7C023B741366}"/>
                </a:ext>
              </a:extLst>
            </p:cNvPr>
            <p:cNvSpPr/>
            <p:nvPr/>
          </p:nvSpPr>
          <p:spPr>
            <a:xfrm>
              <a:off x="2457559" y="2909697"/>
              <a:ext cx="2700000" cy="54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/>
            <a:lstStyle/>
            <a:p>
              <a:pPr>
                <a:spcAft>
                  <a:spcPts val="200"/>
                </a:spcAft>
              </a:pPr>
              <a:r>
                <a:rPr lang="pt-BR" sz="1400" b="1" err="1"/>
                <a:t>Buy</a:t>
              </a:r>
              <a:endParaRPr lang="pt-BR" sz="1400" b="1"/>
            </a:p>
            <a:p>
              <a:pPr>
                <a:spcAft>
                  <a:spcPts val="200"/>
                </a:spcAft>
              </a:pPr>
              <a:r>
                <a:rPr lang="pt-BR" sz="900"/>
                <a:t>Contratar solução pronta no mercado?</a:t>
              </a: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A3A901C6-4271-0532-49CB-E190EABE35D7}"/>
                </a:ext>
              </a:extLst>
            </p:cNvPr>
            <p:cNvSpPr/>
            <p:nvPr/>
          </p:nvSpPr>
          <p:spPr>
            <a:xfrm>
              <a:off x="8891472" y="2909697"/>
              <a:ext cx="2700000" cy="54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/>
            <a:lstStyle/>
            <a:p>
              <a:pPr>
                <a:spcAft>
                  <a:spcPts val="200"/>
                </a:spcAft>
              </a:pPr>
              <a:r>
                <a:rPr lang="pt-BR" sz="1400" b="1"/>
                <a:t>Build Custom / Fundacional</a:t>
              </a:r>
            </a:p>
            <a:p>
              <a:pPr>
                <a:spcAft>
                  <a:spcPts val="200"/>
                </a:spcAft>
              </a:pPr>
              <a:r>
                <a:rPr lang="pt-BR" sz="900"/>
                <a:t>Realizar </a:t>
              </a:r>
              <a:r>
                <a:rPr lang="pt-BR" sz="900" u="sng"/>
                <a:t>desenvolvimento interno</a:t>
              </a:r>
              <a:r>
                <a:rPr lang="pt-BR" sz="900"/>
                <a:t>?</a:t>
              </a: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EDBD829-30B6-5849-E71C-260114A67683}"/>
                </a:ext>
              </a:extLst>
            </p:cNvPr>
            <p:cNvSpPr/>
            <p:nvPr/>
          </p:nvSpPr>
          <p:spPr>
            <a:xfrm>
              <a:off x="5674516" y="5559557"/>
              <a:ext cx="5916956" cy="612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numCol="2" rtlCol="0" anchor="ctr"/>
            <a:lstStyle/>
            <a:p>
              <a:pPr marL="171450" indent="-1714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200">
                  <a:solidFill>
                    <a:schemeClr val="tx1"/>
                  </a:solidFill>
                </a:rPr>
                <a:t>Inovação de produto</a:t>
              </a:r>
            </a:p>
            <a:p>
              <a:pPr marL="171450" indent="-1714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200">
                  <a:solidFill>
                    <a:schemeClr val="tx1"/>
                  </a:solidFill>
                </a:rPr>
                <a:t>Flexibilidade e controle</a:t>
              </a:r>
            </a:p>
            <a:p>
              <a:pPr marL="171450" indent="-1714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200">
                  <a:solidFill>
                    <a:schemeClr val="tx1"/>
                  </a:solidFill>
                </a:rPr>
                <a:t>Integração com ecossistema de soluções corporativas</a:t>
              </a:r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F2B1E52E-7407-5E0D-49AF-CDFB4E671948}"/>
                </a:ext>
              </a:extLst>
            </p:cNvPr>
            <p:cNvSpPr/>
            <p:nvPr/>
          </p:nvSpPr>
          <p:spPr>
            <a:xfrm>
              <a:off x="2457559" y="5559557"/>
              <a:ext cx="2700000" cy="612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/>
            <a:lstStyle/>
            <a:p>
              <a:pPr marL="171450" indent="-1714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200">
                  <a:solidFill>
                    <a:schemeClr val="tx1"/>
                  </a:solidFill>
                </a:rPr>
                <a:t>Aceleração de valor</a:t>
              </a:r>
            </a:p>
            <a:p>
              <a:pPr marL="171450" indent="-1714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200">
                  <a:solidFill>
                    <a:schemeClr val="tx1"/>
                  </a:solidFill>
                </a:rPr>
                <a:t>Mitigação de riscos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30FC912-888A-B322-AEB1-46A616D75EFD}"/>
                </a:ext>
              </a:extLst>
            </p:cNvPr>
            <p:cNvSpPr txBox="1"/>
            <p:nvPr/>
          </p:nvSpPr>
          <p:spPr>
            <a:xfrm>
              <a:off x="381000" y="5559557"/>
              <a:ext cx="16002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1200" b="1" noProof="0"/>
                <a:t>Driver de decisão </a:t>
              </a:r>
              <a:r>
                <a:rPr lang="pt-BR" sz="1200" b="1"/>
                <a:t>prioritário</a:t>
              </a:r>
              <a:endParaRPr lang="pt-BR" sz="1200" b="1" noProof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FD55C90-01F4-93E8-AFC3-B7D87ADE4C62}"/>
                </a:ext>
              </a:extLst>
            </p:cNvPr>
            <p:cNvSpPr txBox="1"/>
            <p:nvPr/>
          </p:nvSpPr>
          <p:spPr>
            <a:xfrm>
              <a:off x="381000" y="2909697"/>
              <a:ext cx="93726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1200" b="1"/>
                <a:t>Caminho estratégico</a:t>
              </a:r>
              <a:endParaRPr lang="pt-BR" sz="1200" b="1" noProof="0"/>
            </a:p>
          </p:txBody>
        </p: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6489411B-ACC4-BED0-D6FE-3D21A52508D4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 rot="16200000" flipH="1">
              <a:off x="1832586" y="2554724"/>
              <a:ext cx="733950" cy="515995"/>
            </a:xfrm>
            <a:prstGeom prst="bentConnector2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26D0DD68-B53C-2F05-8C8A-E3429EBE092F}"/>
                </a:ext>
              </a:extLst>
            </p:cNvPr>
            <p:cNvSpPr/>
            <p:nvPr/>
          </p:nvSpPr>
          <p:spPr>
            <a:xfrm>
              <a:off x="5674516" y="3449697"/>
              <a:ext cx="2700000" cy="2016000"/>
            </a:xfrm>
            <a:prstGeom prst="rect">
              <a:avLst/>
            </a:prstGeom>
            <a:solidFill>
              <a:srgbClr val="FDE2E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46800" rtlCol="0" anchor="t"/>
            <a:lstStyle/>
            <a:p>
              <a:pPr>
                <a:lnSpc>
                  <a:spcPct val="110000"/>
                </a:lnSpc>
              </a:pPr>
              <a:r>
                <a:rPr lang="pt-BR" sz="1200">
                  <a:solidFill>
                    <a:schemeClr val="tx1"/>
                  </a:solidFill>
                </a:rPr>
                <a:t>Construção da plataforma (desenvolvimento de software) usando softwares terceiros para aceleração do desenvolvimento</a:t>
              </a:r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3BE8C3C3-DBC2-1AB9-022A-01186501852E}"/>
                </a:ext>
              </a:extLst>
            </p:cNvPr>
            <p:cNvSpPr/>
            <p:nvPr/>
          </p:nvSpPr>
          <p:spPr>
            <a:xfrm>
              <a:off x="2457559" y="3449697"/>
              <a:ext cx="2700000" cy="2016000"/>
            </a:xfrm>
            <a:prstGeom prst="rect">
              <a:avLst/>
            </a:prstGeom>
            <a:solidFill>
              <a:srgbClr val="FDE2E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46800" rtlCol="0" anchor="t"/>
            <a:lstStyle/>
            <a:p>
              <a:pPr>
                <a:lnSpc>
                  <a:spcPct val="110000"/>
                </a:lnSpc>
              </a:pPr>
              <a:r>
                <a:rPr lang="pt-BR" sz="1200">
                  <a:solidFill>
                    <a:schemeClr val="tx1"/>
                  </a:solidFill>
                </a:rPr>
                <a:t>Contratação de plataforma como serviço, onde o Banco não possui acesso ao código, apenas às ferramentas e relatórios disponibilizados</a:t>
              </a:r>
            </a:p>
            <a:p>
              <a:pPr>
                <a:lnSpc>
                  <a:spcPct val="110000"/>
                </a:lnSpc>
              </a:pPr>
              <a:endParaRPr lang="pt-BR" sz="1200">
                <a:solidFill>
                  <a:schemeClr val="tx1"/>
                </a:solidFill>
              </a:endParaRPr>
            </a:p>
            <a:p>
              <a:pPr>
                <a:lnSpc>
                  <a:spcPct val="110000"/>
                </a:lnSpc>
              </a:pPr>
              <a:endParaRPr lang="pt-BR" sz="1200" u="sng">
                <a:solidFill>
                  <a:schemeClr val="tx1"/>
                </a:solidFill>
              </a:endParaRPr>
            </a:p>
          </p:txBody>
        </p:sp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D5448124-333D-EB30-5B98-BEC0220E23F4}"/>
                </a:ext>
              </a:extLst>
            </p:cNvPr>
            <p:cNvSpPr/>
            <p:nvPr/>
          </p:nvSpPr>
          <p:spPr>
            <a:xfrm>
              <a:off x="8891472" y="3449697"/>
              <a:ext cx="2700000" cy="2016000"/>
            </a:xfrm>
            <a:prstGeom prst="rect">
              <a:avLst/>
            </a:prstGeom>
            <a:solidFill>
              <a:srgbClr val="FDE2E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rIns="90000" bIns="46800" rtlCol="0" anchor="t"/>
            <a:lstStyle/>
            <a:p>
              <a:pPr>
                <a:lnSpc>
                  <a:spcPct val="110000"/>
                </a:lnSpc>
              </a:pPr>
              <a:r>
                <a:rPr lang="pt-BR" sz="1200">
                  <a:solidFill>
                    <a:schemeClr val="tx1"/>
                  </a:solidFill>
                </a:rPr>
                <a:t>Construção da plataforma (desenvolvimento de software) em cima de tecnologias e práticas fundacionais (Microsserviços; Cloud etc.)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65B3A8-DF3C-DBA9-0210-273476CF54AC}"/>
                </a:ext>
              </a:extLst>
            </p:cNvPr>
            <p:cNvSpPr txBox="1"/>
            <p:nvPr/>
          </p:nvSpPr>
          <p:spPr>
            <a:xfrm>
              <a:off x="381000" y="3557697"/>
              <a:ext cx="93726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1200" b="1" noProof="0"/>
                <a:t>Descritivo</a:t>
              </a:r>
              <a:r>
                <a:rPr lang="pt-BR" sz="1200" b="1"/>
                <a:t> do cenário</a:t>
              </a:r>
              <a:endParaRPr lang="pt-BR" sz="1200" b="1" noProof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84278BD-EC30-21E1-6047-D3E9F01B66DE}"/>
                </a:ext>
              </a:extLst>
            </p:cNvPr>
            <p:cNvSpPr txBox="1"/>
            <p:nvPr/>
          </p:nvSpPr>
          <p:spPr>
            <a:xfrm>
              <a:off x="2565559" y="4645079"/>
              <a:ext cx="2484000" cy="715581"/>
            </a:xfrm>
            <a:prstGeom prst="rect">
              <a:avLst/>
            </a:prstGeom>
            <a:noFill/>
          </p:spPr>
          <p:txBody>
            <a:bodyPr wrap="square" lIns="0" tIns="0" rIns="0" bIns="4572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pt-BR" sz="900" b="1"/>
                <a:t>Sistemas pacotes avaliados:</a:t>
              </a:r>
              <a:endParaRPr lang="pt-BR" sz="900"/>
            </a:p>
            <a:p>
              <a:pPr marL="171450" indent="-171450">
                <a:spcAft>
                  <a:spcPts val="300"/>
                </a:spcAft>
                <a:buFontTx/>
                <a:buChar char="-"/>
              </a:pPr>
              <a:r>
                <a:rPr lang="pt-BR" sz="900"/>
                <a:t>Função Sistemas</a:t>
              </a:r>
            </a:p>
            <a:p>
              <a:pPr marL="171450" indent="-171450">
                <a:spcAft>
                  <a:spcPts val="300"/>
                </a:spcAft>
                <a:buFontTx/>
                <a:buChar char="-"/>
              </a:pPr>
              <a:r>
                <a:rPr lang="pt-BR" sz="900" err="1"/>
                <a:t>Dimensa</a:t>
              </a:r>
              <a:endParaRPr lang="pt-BR" sz="900"/>
            </a:p>
            <a:p>
              <a:pPr marL="171450" indent="-171450">
                <a:spcAft>
                  <a:spcPts val="300"/>
                </a:spcAft>
                <a:buFontTx/>
                <a:buChar char="-"/>
              </a:pPr>
              <a:r>
                <a:rPr lang="pt-BR" sz="900" err="1"/>
                <a:t>Sinqia</a:t>
              </a:r>
              <a:endParaRPr lang="pt-BR" sz="90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802ADD-63EA-E391-01E1-F7D74DB148D6}"/>
                </a:ext>
              </a:extLst>
            </p:cNvPr>
            <p:cNvSpPr txBox="1"/>
            <p:nvPr/>
          </p:nvSpPr>
          <p:spPr>
            <a:xfrm>
              <a:off x="5782516" y="4645079"/>
              <a:ext cx="2484000" cy="715581"/>
            </a:xfrm>
            <a:prstGeom prst="rect">
              <a:avLst/>
            </a:prstGeom>
            <a:noFill/>
          </p:spPr>
          <p:txBody>
            <a:bodyPr wrap="square" lIns="0" tIns="0" rIns="0" bIns="45720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pt-BR" sz="900" b="1"/>
                <a:t>Exemplos de aceleradores</a:t>
              </a:r>
              <a:r>
                <a:rPr lang="pt-BR" sz="900"/>
                <a:t>:</a:t>
              </a:r>
            </a:p>
            <a:p>
              <a:pPr marL="171450" indent="-171450">
                <a:spcAft>
                  <a:spcPts val="300"/>
                </a:spcAft>
                <a:buFontTx/>
                <a:buChar char="-"/>
              </a:pPr>
              <a:r>
                <a:rPr lang="pt-BR" sz="900" err="1"/>
                <a:t>ServiceNow</a:t>
              </a:r>
              <a:r>
                <a:rPr lang="pt-BR" sz="900"/>
                <a:t> (Conciliador de Convênios)</a:t>
              </a:r>
            </a:p>
            <a:p>
              <a:pPr marL="171450" indent="-171450">
                <a:spcAft>
                  <a:spcPts val="300"/>
                </a:spcAft>
                <a:buFontTx/>
                <a:buChar char="-"/>
              </a:pPr>
              <a:r>
                <a:rPr lang="pt-BR" sz="900" err="1"/>
                <a:t>Decision</a:t>
              </a:r>
              <a:r>
                <a:rPr lang="pt-BR" sz="900"/>
                <a:t> </a:t>
              </a:r>
              <a:r>
                <a:rPr lang="pt-BR" sz="900" err="1"/>
                <a:t>Rules</a:t>
              </a:r>
              <a:r>
                <a:rPr lang="pt-BR" sz="900"/>
                <a:t> (Orquestrador de Oferta)</a:t>
              </a:r>
            </a:p>
            <a:p>
              <a:pPr marL="171450" indent="-171450">
                <a:spcAft>
                  <a:spcPts val="300"/>
                </a:spcAft>
                <a:buFontTx/>
                <a:buChar char="-"/>
              </a:pPr>
              <a:r>
                <a:rPr lang="pt-BR" sz="900" err="1"/>
                <a:t>Camunda</a:t>
              </a:r>
              <a:r>
                <a:rPr lang="pt-BR" sz="900"/>
                <a:t> (Orquestrador Pós-Venda)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B1BACB-A3AD-4C48-1DC1-E8B22F307F54}"/>
                </a:ext>
              </a:extLst>
            </p:cNvPr>
            <p:cNvSpPr txBox="1"/>
            <p:nvPr/>
          </p:nvSpPr>
          <p:spPr>
            <a:xfrm>
              <a:off x="381000" y="1469479"/>
              <a:ext cx="212852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1200" b="1"/>
                <a:t>Inputs para avaliação...</a:t>
              </a:r>
              <a:endParaRPr lang="pt-BR" sz="1200" b="1" noProof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F49BB57-6CCA-4502-CE74-CF74514B7BC0}"/>
                </a:ext>
              </a:extLst>
            </p:cNvPr>
            <p:cNvSpPr txBox="1"/>
            <p:nvPr/>
          </p:nvSpPr>
          <p:spPr>
            <a:xfrm>
              <a:off x="381000" y="1714315"/>
              <a:ext cx="4453128" cy="731432"/>
            </a:xfrm>
            <a:prstGeom prst="roundRect">
              <a:avLst>
                <a:gd name="adj" fmla="val 5536"/>
              </a:avLst>
            </a:prstGeom>
            <a:solidFill>
              <a:schemeClr val="tx1"/>
            </a:solidFill>
          </p:spPr>
          <p:txBody>
            <a:bodyPr wrap="square" lIns="36000" tIns="0" rIns="36000" bIns="0" rtlCol="0" anchor="t">
              <a:noAutofit/>
            </a:bodyPr>
            <a:lstStyle/>
            <a:p>
              <a:pPr algn="ctr">
                <a:spcAft>
                  <a:spcPts val="200"/>
                </a:spcAft>
              </a:pPr>
              <a:endParaRPr lang="pt-BR" sz="1200" b="1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7D538EB-6628-BBEC-E500-830778A7AE7F}"/>
                </a:ext>
              </a:extLst>
            </p:cNvPr>
            <p:cNvSpPr/>
            <p:nvPr/>
          </p:nvSpPr>
          <p:spPr>
            <a:xfrm>
              <a:off x="3396921" y="2014879"/>
              <a:ext cx="1332000" cy="360000"/>
            </a:xfrm>
            <a:prstGeom prst="roundRect">
              <a:avLst>
                <a:gd name="adj" fmla="val 6084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>
                  <a:solidFill>
                    <a:schemeClr val="tx1"/>
                  </a:solidFill>
                </a:rPr>
                <a:t>Domínios da Solução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5B8358D-57F1-3365-E2C0-DE08D75B8988}"/>
                </a:ext>
              </a:extLst>
            </p:cNvPr>
            <p:cNvSpPr/>
            <p:nvPr/>
          </p:nvSpPr>
          <p:spPr>
            <a:xfrm>
              <a:off x="486208" y="2014879"/>
              <a:ext cx="1332000" cy="360000"/>
            </a:xfrm>
            <a:prstGeom prst="roundRect">
              <a:avLst>
                <a:gd name="adj" fmla="val 6084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>
                  <a:solidFill>
                    <a:schemeClr val="tx1"/>
                  </a:solidFill>
                </a:rPr>
                <a:t>Ambição de Negócio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0173D41-5891-4789-1408-6F1B807EAC7E}"/>
                </a:ext>
              </a:extLst>
            </p:cNvPr>
            <p:cNvSpPr/>
            <p:nvPr/>
          </p:nvSpPr>
          <p:spPr>
            <a:xfrm>
              <a:off x="1941564" y="2014879"/>
              <a:ext cx="1332000" cy="360000"/>
            </a:xfrm>
            <a:prstGeom prst="roundRect">
              <a:avLst>
                <a:gd name="adj" fmla="val 6084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>
                  <a:solidFill>
                    <a:schemeClr val="tx1"/>
                  </a:solidFill>
                </a:rPr>
                <a:t>Premissas de Tecnologia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FA51BB5-423D-5433-6907-A2BADC274E59}"/>
                </a:ext>
              </a:extLst>
            </p:cNvPr>
            <p:cNvGrpSpPr/>
            <p:nvPr/>
          </p:nvGrpSpPr>
          <p:grpSpPr>
            <a:xfrm>
              <a:off x="1935528" y="1797521"/>
              <a:ext cx="2788872" cy="161583"/>
              <a:chOff x="3390900" y="1760708"/>
              <a:chExt cx="1333500" cy="161583"/>
            </a:xfrm>
          </p:grpSpPr>
          <p:cxnSp>
            <p:nvCxnSpPr>
              <p:cNvPr id="29" name="iBar:267/160">
                <a:extLst>
                  <a:ext uri="{FF2B5EF4-FFF2-40B4-BE49-F238E27FC236}">
                    <a16:creationId xmlns:a16="http://schemas.microsoft.com/office/drawing/2014/main" id="{CA0AB6A1-50B2-85E2-212D-DF46EEA1FD63}"/>
                  </a:ext>
                </a:extLst>
              </p:cNvPr>
              <p:cNvCxnSpPr/>
              <p:nvPr/>
            </p:nvCxnSpPr>
            <p:spPr>
              <a:xfrm>
                <a:off x="3390900" y="1841500"/>
                <a:ext cx="1333500" cy="0"/>
              </a:xfrm>
              <a:prstGeom prst="line">
                <a:avLst/>
              </a:prstGeom>
              <a:ln w="12700">
                <a:solidFill>
                  <a:schemeClr val="bg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xtBox:267/160">
                <a:extLst>
                  <a:ext uri="{FF2B5EF4-FFF2-40B4-BE49-F238E27FC236}">
                    <a16:creationId xmlns:a16="http://schemas.microsoft.com/office/drawing/2014/main" id="{C282905E-71CB-D7AB-20FD-5100448C0A9E}"/>
                  </a:ext>
                </a:extLst>
              </p:cNvPr>
              <p:cNvSpPr/>
              <p:nvPr/>
            </p:nvSpPr>
            <p:spPr>
              <a:xfrm>
                <a:off x="3925888" y="1760708"/>
                <a:ext cx="263528" cy="16158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0" rIns="91440" bIns="0" rtlCol="0" anchor="ctr">
                <a:spAutoFit/>
              </a:bodyPr>
              <a:lstStyle/>
              <a:p>
                <a:pPr algn="ctr"/>
                <a:r>
                  <a:rPr lang="pt-BR" sz="1050" b="1">
                    <a:solidFill>
                      <a:schemeClr val="bg1"/>
                    </a:solidFill>
                  </a:rPr>
                  <a:t>Tático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4E355D9-6F77-4257-4214-AD0EA7AE1903}"/>
                </a:ext>
              </a:extLst>
            </p:cNvPr>
            <p:cNvGrpSpPr/>
            <p:nvPr/>
          </p:nvGrpSpPr>
          <p:grpSpPr>
            <a:xfrm>
              <a:off x="492264" y="1797521"/>
              <a:ext cx="1332000" cy="161583"/>
              <a:chOff x="492264" y="1797521"/>
              <a:chExt cx="2781300" cy="161583"/>
            </a:xfrm>
          </p:grpSpPr>
          <p:cxnSp>
            <p:nvCxnSpPr>
              <p:cNvPr id="27" name="iBar:38/160">
                <a:extLst>
                  <a:ext uri="{FF2B5EF4-FFF2-40B4-BE49-F238E27FC236}">
                    <a16:creationId xmlns:a16="http://schemas.microsoft.com/office/drawing/2014/main" id="{9DF70527-2AD3-73D5-DC19-897BEDCBD96B}"/>
                  </a:ext>
                </a:extLst>
              </p:cNvPr>
              <p:cNvCxnSpPr/>
              <p:nvPr/>
            </p:nvCxnSpPr>
            <p:spPr>
              <a:xfrm>
                <a:off x="492264" y="1878313"/>
                <a:ext cx="2781300" cy="0"/>
              </a:xfrm>
              <a:prstGeom prst="line">
                <a:avLst/>
              </a:prstGeom>
              <a:ln w="12700">
                <a:solidFill>
                  <a:schemeClr val="bg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xtBox:38/160">
                <a:extLst>
                  <a:ext uri="{FF2B5EF4-FFF2-40B4-BE49-F238E27FC236}">
                    <a16:creationId xmlns:a16="http://schemas.microsoft.com/office/drawing/2014/main" id="{8E49E6CB-16D9-7D8D-C770-E7546C0D476D}"/>
                  </a:ext>
                </a:extLst>
              </p:cNvPr>
              <p:cNvSpPr/>
              <p:nvPr/>
            </p:nvSpPr>
            <p:spPr>
              <a:xfrm>
                <a:off x="883448" y="1797521"/>
                <a:ext cx="1998930" cy="16158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0" rIns="91440" bIns="0" rtlCol="0" anchor="ctr">
                <a:spAutoFit/>
              </a:bodyPr>
              <a:lstStyle/>
              <a:p>
                <a:pPr algn="ctr"/>
                <a:r>
                  <a:rPr lang="pt-BR" sz="1050" b="1">
                    <a:solidFill>
                      <a:schemeClr val="bg1"/>
                    </a:solidFill>
                  </a:rPr>
                  <a:t>Estratégico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4290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179</Words>
  <Application>Microsoft Office PowerPoint</Application>
  <PresentationFormat>Widescreen</PresentationFormat>
  <Paragraphs>36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2026-04-08T01:26:43Z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